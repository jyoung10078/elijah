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Title 1"/>
          <p:cNvSpPr>
            <a:spLocks noGrp="1"/>
          </p:cNvSpPr>
          <p:nvPr>
            <p:ph type="ctrTitle"/>
          </p:nvPr>
        </p:nvSpPr>
        <p:spPr/>
        <p:txBody>
          <a:bodyPr/>
          <a:lstStyle/>
          <a:p>
            <a:r>
              <a:t>Dataset Analysis Insights</a:t>
            </a:r>
          </a:p>
        </p:txBody>
      </p:sp>
      <p:sp>
        <p:nvSpPr>
          <p:cNvPr id="3" name="Subtitle 2"/>
          <p:cNvSpPr>
            <a:spLocks noGrp="1"/>
          </p:cNvSpPr>
          <p:nvPr>
            <p:ph type="subTitle" idx="1"/>
          </p:nvPr>
        </p:nvSpPr>
        <p:spPr/>
        <p:txBody>
          <a:bodyPr/>
          <a:lstStyle/>
          <a:p>
            <a:r>
              <a:t>Generated by OpenAI Data Analysis</a:t>
            </a:r>
          </a:p>
        </p:txBody>
      </p:sp>
      <p:sp>
        <p:nvSpPr>
          <p:cNvPr id="4" name="Rectangle 3"/>
          <p:cNvSpPr/>
          <p:nvPr/>
        </p:nvSpPr>
        <p:spPr>
          <a:xfrm>
            <a:off x="0" y="0"/>
            <a:ext cx="9144000" cy="548640"/>
          </a:xfrm>
          <a:prstGeom prst="rect">
            <a:avLst/>
          </a:prstGeom>
          <a:solidFill>
            <a:srgbClr val="0066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defRPr>
            </a:pPr>
            <a:r>
              <a:t>Dataset Insights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9144000" cy="548640"/>
          </a:xfrm>
          <a:prstGeom prst="rect">
            <a:avLst/>
          </a:prstGeom>
          <a:solidFill>
            <a:srgbClr val="0066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defRPr>
            </a:pPr>
            <a:r>
              <a:t>Dataset Insights</a:t>
            </a:r>
          </a:p>
        </p:txBody>
      </p:sp>
      <p:sp>
        <p:nvSpPr>
          <p:cNvPr id="4" name="TextBox 3"/>
          <p:cNvSpPr txBox="1"/>
          <p:nvPr/>
        </p:nvSpPr>
        <p:spPr>
          <a:xfrm>
            <a:off x="457200" y="731520"/>
            <a:ext cx="8229600" cy="640080"/>
          </a:xfrm>
          <a:prstGeom prst="rect">
            <a:avLst/>
          </a:prstGeom>
          <a:noFill/>
        </p:spPr>
        <p:txBody>
          <a:bodyPr wrap="none">
            <a:spAutoFit/>
          </a:bodyPr>
          <a:lstStyle/>
          <a:p>
            <a:pPr>
              <a:defRPr sz="2800" b="1">
                <a:solidFill>
                  <a:srgbClr val="003366"/>
                </a:solidFill>
              </a:defRPr>
            </a:pPr>
            <a:r>
              <a:t>1. Summary Statistics</a:t>
            </a:r>
          </a:p>
        </p:txBody>
      </p:sp>
      <p:sp>
        <p:nvSpPr>
          <p:cNvPr id="5" name="TextBox 4"/>
          <p:cNvSpPr txBox="1"/>
          <p:nvPr/>
        </p:nvSpPr>
        <p:spPr>
          <a:xfrm>
            <a:off x="457200" y="1463040"/>
            <a:ext cx="8229600" cy="4572000"/>
          </a:xfrm>
          <a:prstGeom prst="rect">
            <a:avLst/>
          </a:prstGeom>
          <a:noFill/>
        </p:spPr>
        <p:txBody>
          <a:bodyPr wrap="square">
            <a:spAutoFit/>
          </a:bodyPr>
          <a:lstStyle/>
          <a:p/>
          <a:p>
            <a:pPr>
              <a:defRPr sz="1600"/>
            </a:pPr>
            <a:r>
              <a:t>From the dataset, we can derive the following summary statistics:</a:t>
            </a:r>
          </a:p>
          <a:p>
            <a:pPr>
              <a:defRPr sz="1600"/>
            </a:pPr>
            <a:r>
              <a:t>- **Demographics**:</a:t>
            </a:r>
          </a:p>
          <a:p>
            <a:pPr>
              <a:defRPr sz="1600"/>
            </a:pPr>
            <a:r>
              <a:t>- **BENE_BIRTH_DT**: Ranges from 1922 to 1961, indicating a diverse age group.</a:t>
            </a:r>
          </a:p>
          <a:p>
            <a:pPr>
              <a:defRPr sz="1600"/>
            </a:pPr>
            <a:r>
              <a:t>- **BENE_SEX_IDENT_CD**: Majority (1.0) appear to be female (coded as 1), while 2.0 represents male.</a:t>
            </a:r>
          </a:p>
          <a:p>
            <a:pPr>
              <a:defRPr sz="1600"/>
            </a:pPr>
            <a:r>
              <a:t>- **BENE_RACE_CD**: Majority of the sample is coded as 1 (possibly indicating a specific race category).</a:t>
            </a:r>
          </a:p>
          <a:p>
            <a:pPr>
              <a:defRPr sz="1600"/>
            </a:pPr>
            <a:r>
              <a:t>- **Health Indicators**:</a:t>
            </a:r>
          </a:p>
          <a:p>
            <a:pPr>
              <a:defRPr sz="1600"/>
            </a:pPr>
            <a:r>
              <a:t>- **BENE_ESRD_IND**: A binary indicator where 'Y' indicates end-stage renal disease (ESRD) presence.</a:t>
            </a:r>
          </a:p>
          <a:p>
            <a:pPr>
              <a:defRPr sz="1600"/>
            </a:pPr>
            <a:r>
              <a:t>- Health conditions such as **SP_ALZHDMTA, SP_CHF, SP_DEPRESSN, SP_DIABETES, SP_COPD** show a high incidence across the population, with values mostly at 1.0 (indicating presence).</a:t>
            </a:r>
          </a:p>
          <a:p>
            <a:pPr>
              <a:defRPr sz="1600"/>
            </a:pPr>
            <a:r>
              <a:t>- **Coverage and Claims**:</a:t>
            </a:r>
          </a:p>
          <a:p>
            <a:pPr>
              <a:defRPr sz="1600"/>
            </a:pPr>
            <a:r>
              <a:t>- **BENE_HI_CVRAGE_TOT_MONS**: The average is approximately 11.75 months, indicating limited health coverage for many.</a:t>
            </a:r>
          </a:p>
          <a:p>
            <a:pPr>
              <a:defRPr sz="1600"/>
            </a:pPr>
            <a:r>
              <a:t>- **PLAN_CVRG_MOS_NUM**: The average is around 9.12 months, which indicates that many beneficiaries may experience gaps in coverage.</a:t>
            </a:r>
          </a:p>
          <a:p>
            <a:pPr>
              <a:defRPr sz="1600"/>
            </a:pPr>
            <a:r>
              <a:t>- **Financial Metrics**:</a:t>
            </a:r>
          </a:p>
          <a:p>
            <a:pPr>
              <a:defRPr sz="1600"/>
            </a:pPr>
            <a:r>
              <a:t>- **MEDREIMB_IP**: Average reimbursement for inpatient claims is about 2794.99, with a max of 92100, indicating significant variability in costs.</a:t>
            </a:r>
          </a:p>
          <a:p>
            <a:pPr>
              <a:defRPr sz="1600"/>
            </a:pPr>
            <a:r>
              <a:t>- **LINE_NCH_PMT_AMT_1**: Average payment amount per claim is 53.64, with a max of 550, indicating a wide range of claim values.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9144000" cy="548640"/>
          </a:xfrm>
          <a:prstGeom prst="rect">
            <a:avLst/>
          </a:prstGeom>
          <a:solidFill>
            <a:srgbClr val="0066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defRPr>
            </a:pPr>
            <a:r>
              <a:t>Dataset Insights</a:t>
            </a:r>
          </a:p>
        </p:txBody>
      </p:sp>
      <p:sp>
        <p:nvSpPr>
          <p:cNvPr id="4" name="TextBox 3"/>
          <p:cNvSpPr txBox="1"/>
          <p:nvPr/>
        </p:nvSpPr>
        <p:spPr>
          <a:xfrm>
            <a:off x="457200" y="731520"/>
            <a:ext cx="8229600" cy="640080"/>
          </a:xfrm>
          <a:prstGeom prst="rect">
            <a:avLst/>
          </a:prstGeom>
          <a:noFill/>
        </p:spPr>
        <p:txBody>
          <a:bodyPr wrap="none">
            <a:spAutoFit/>
          </a:bodyPr>
          <a:lstStyle/>
          <a:p>
            <a:pPr>
              <a:defRPr sz="2800" b="1">
                <a:solidFill>
                  <a:srgbClr val="003366"/>
                </a:solidFill>
              </a:defRPr>
            </a:pPr>
            <a:r>
              <a:t>2. Key Trends and Patterns</a:t>
            </a:r>
          </a:p>
        </p:txBody>
      </p:sp>
      <p:sp>
        <p:nvSpPr>
          <p:cNvPr id="5" name="TextBox 4"/>
          <p:cNvSpPr txBox="1"/>
          <p:nvPr/>
        </p:nvSpPr>
        <p:spPr>
          <a:xfrm>
            <a:off x="457200" y="1463040"/>
            <a:ext cx="8229600" cy="4572000"/>
          </a:xfrm>
          <a:prstGeom prst="rect">
            <a:avLst/>
          </a:prstGeom>
          <a:noFill/>
        </p:spPr>
        <p:txBody>
          <a:bodyPr wrap="square">
            <a:spAutoFit/>
          </a:bodyPr>
          <a:lstStyle/>
          <a:p/>
          <a:p>
            <a:pPr>
              <a:defRPr sz="1600"/>
            </a:pPr>
            <a:r>
              <a:t>- **Age and Gender Distribution**:</a:t>
            </a:r>
          </a:p>
          <a:p>
            <a:pPr>
              <a:defRPr sz="1600"/>
            </a:pPr>
            <a:r>
              <a:t>- There is an aging population, with birth dates predominantly prior to 1961, suggesting that the dataset primarily represents older adults.</a:t>
            </a:r>
          </a:p>
          <a:p>
            <a:pPr>
              <a:defRPr sz="1600"/>
            </a:pPr>
            <a:r>
              <a:t>- **Prevalence of Chronic Conditions**:</a:t>
            </a:r>
          </a:p>
          <a:p>
            <a:pPr>
              <a:defRPr sz="1600"/>
            </a:pPr>
            <a:r>
              <a:t>- Conditions such as diabetes, depression, and chronic heart failure are notably prevalent, indicating a need for targeted healthcare services and interventions.</a:t>
            </a:r>
          </a:p>
          <a:p>
            <a:pPr>
              <a:defRPr sz="1600"/>
            </a:pPr>
            <a:r>
              <a:t>- **Coverage Gaps**:</a:t>
            </a:r>
          </a:p>
          <a:p>
            <a:pPr>
              <a:defRPr sz="1600"/>
            </a:pPr>
            <a:r>
              <a:t>- The average months of health insurance coverage are below 12 months for many beneficiaries, which suggests potential gaps in care continuity.</a:t>
            </a:r>
          </a:p>
          <a:p>
            <a:pPr>
              <a:defRPr sz="1600"/>
            </a:pPr>
            <a:r>
              <a:t>- **Healthcare Costs**:</a:t>
            </a:r>
          </a:p>
          <a:p>
            <a:pPr>
              <a:defRPr sz="1600"/>
            </a:pPr>
            <a:r>
              <a:t>- The reimbursement amounts indicate variability, which may reflect differences in the severity of conditions or geographical healthcare costs.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9144000" cy="548640"/>
          </a:xfrm>
          <a:prstGeom prst="rect">
            <a:avLst/>
          </a:prstGeom>
          <a:solidFill>
            <a:srgbClr val="0066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defRPr>
            </a:pPr>
            <a:r>
              <a:t>Dataset Insights</a:t>
            </a:r>
          </a:p>
        </p:txBody>
      </p:sp>
      <p:sp>
        <p:nvSpPr>
          <p:cNvPr id="4" name="TextBox 3"/>
          <p:cNvSpPr txBox="1"/>
          <p:nvPr/>
        </p:nvSpPr>
        <p:spPr>
          <a:xfrm>
            <a:off x="457200" y="731520"/>
            <a:ext cx="8229600" cy="640080"/>
          </a:xfrm>
          <a:prstGeom prst="rect">
            <a:avLst/>
          </a:prstGeom>
          <a:noFill/>
        </p:spPr>
        <p:txBody>
          <a:bodyPr wrap="none">
            <a:spAutoFit/>
          </a:bodyPr>
          <a:lstStyle/>
          <a:p>
            <a:pPr>
              <a:defRPr sz="2800" b="1">
                <a:solidFill>
                  <a:srgbClr val="003366"/>
                </a:solidFill>
              </a:defRPr>
            </a:pPr>
            <a:r>
              <a:t>3. Recommendations for Improvement</a:t>
            </a:r>
          </a:p>
        </p:txBody>
      </p:sp>
      <p:sp>
        <p:nvSpPr>
          <p:cNvPr id="5" name="TextBox 4"/>
          <p:cNvSpPr txBox="1"/>
          <p:nvPr/>
        </p:nvSpPr>
        <p:spPr>
          <a:xfrm>
            <a:off x="457200" y="1463040"/>
            <a:ext cx="8229600" cy="4572000"/>
          </a:xfrm>
          <a:prstGeom prst="rect">
            <a:avLst/>
          </a:prstGeom>
          <a:noFill/>
        </p:spPr>
        <p:txBody>
          <a:bodyPr wrap="square">
            <a:spAutoFit/>
          </a:bodyPr>
          <a:lstStyle/>
          <a:p/>
          <a:p>
            <a:pPr>
              <a:defRPr sz="1600"/>
            </a:pPr>
            <a:r>
              <a:t>- **Enhance Insurance Coverage**:</a:t>
            </a:r>
          </a:p>
          <a:p>
            <a:pPr>
              <a:defRPr sz="1600"/>
            </a:pPr>
            <a:r>
              <a:t>- Implement programs to increase the number of months beneficiaries are covered under health insurance plans to ensure continuity of care.</a:t>
            </a:r>
          </a:p>
          <a:p>
            <a:pPr>
              <a:defRPr sz="1600"/>
            </a:pPr>
            <a:r>
              <a:t>- **Targeted Health Interventions**:</a:t>
            </a:r>
          </a:p>
          <a:p>
            <a:pPr>
              <a:defRPr sz="1600"/>
            </a:pPr>
            <a:r>
              <a:t>- Develop and promote health programs focused on chronic conditions like diabetes and heart disease. This could involve education on lifestyle changes and regular health screenings.</a:t>
            </a:r>
          </a:p>
          <a:p>
            <a:pPr>
              <a:defRPr sz="1600"/>
            </a:pPr>
            <a:r>
              <a:t>- **Cost Management Strategies**:</a:t>
            </a:r>
          </a:p>
          <a:p>
            <a:pPr>
              <a:defRPr sz="1600"/>
            </a:pPr>
            <a:r>
              <a:t>- Investigate the high variability in costs associated with claims. Consider negotiating better reimbursement rates or creating standardized payments for similar conditions.</a:t>
            </a:r>
          </a:p>
          <a:p>
            <a:pPr>
              <a:defRPr sz="1600"/>
            </a:pPr>
            <a:r>
              <a:t>- **Data Collection Improvements**:</a:t>
            </a:r>
          </a:p>
          <a:p>
            <a:pPr>
              <a:defRPr sz="1600"/>
            </a:pPr>
            <a:r>
              <a:t>- Ensure demographic data is accurately recorded to enable better analysis of healthcare needs. This includes enhancing the granularity of race and ethnicity data for better-targeted interventions.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AFAFA"/>
        </a:solidFill>
        <a:effectLst/>
      </p:bgPr>
    </p:bg>
    <p:spTree>
      <p:nvGrpSpPr>
        <p:cNvPr id="1" name=""/>
        <p:cNvGrpSpPr/>
        <p:nvPr/>
      </p:nvGrpSpPr>
      <p:grpSpPr/>
      <p:sp>
        <p:nvSpPr>
          <p:cNvPr id="2" name="Title 1"/>
          <p:cNvSpPr>
            <a:spLocks noGrp="1"/>
          </p:cNvSpPr>
          <p:nvPr>
            <p:ph type="title"/>
          </p:nvPr>
        </p:nvSpPr>
        <p:spPr/>
        <p:txBody>
          <a:bodyPr/>
          <a:lstStyle/>
          <a:p/>
        </p:txBody>
      </p:sp>
      <p:sp>
        <p:nvSpPr>
          <p:cNvPr id="3" name="Rectangle 2"/>
          <p:cNvSpPr/>
          <p:nvPr/>
        </p:nvSpPr>
        <p:spPr>
          <a:xfrm>
            <a:off x="0" y="0"/>
            <a:ext cx="9144000" cy="548640"/>
          </a:xfrm>
          <a:prstGeom prst="rect">
            <a:avLst/>
          </a:prstGeom>
          <a:solidFill>
            <a:srgbClr val="00669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600" b="1">
                <a:solidFill>
                  <a:srgbClr val="FFFFFF"/>
                </a:solidFill>
              </a:defRPr>
            </a:pPr>
            <a:r>
              <a:t>Dataset Insights</a:t>
            </a:r>
          </a:p>
        </p:txBody>
      </p:sp>
      <p:sp>
        <p:nvSpPr>
          <p:cNvPr id="4" name="TextBox 3"/>
          <p:cNvSpPr txBox="1"/>
          <p:nvPr/>
        </p:nvSpPr>
        <p:spPr>
          <a:xfrm>
            <a:off x="457200" y="731520"/>
            <a:ext cx="8229600" cy="640080"/>
          </a:xfrm>
          <a:prstGeom prst="rect">
            <a:avLst/>
          </a:prstGeom>
          <a:noFill/>
        </p:spPr>
        <p:txBody>
          <a:bodyPr wrap="none">
            <a:spAutoFit/>
          </a:bodyPr>
          <a:lstStyle/>
          <a:p>
            <a:pPr>
              <a:defRPr sz="2800" b="1">
                <a:solidFill>
                  <a:srgbClr val="003366"/>
                </a:solidFill>
              </a:defRPr>
            </a:pPr>
            <a:r>
              <a:t>4. Anomalies or Areas of Concern</a:t>
            </a:r>
          </a:p>
        </p:txBody>
      </p:sp>
      <p:sp>
        <p:nvSpPr>
          <p:cNvPr id="5" name="TextBox 4"/>
          <p:cNvSpPr txBox="1"/>
          <p:nvPr/>
        </p:nvSpPr>
        <p:spPr>
          <a:xfrm>
            <a:off x="457200" y="1463040"/>
            <a:ext cx="8229600" cy="4572000"/>
          </a:xfrm>
          <a:prstGeom prst="rect">
            <a:avLst/>
          </a:prstGeom>
          <a:noFill/>
        </p:spPr>
        <p:txBody>
          <a:bodyPr wrap="square">
            <a:spAutoFit/>
          </a:bodyPr>
          <a:lstStyle/>
          <a:p/>
          <a:p>
            <a:pPr>
              <a:defRPr sz="1600"/>
            </a:pPr>
            <a:r>
              <a:t>- **High Values in Claims**:</a:t>
            </a:r>
          </a:p>
          <a:p>
            <a:pPr>
              <a:defRPr sz="1600"/>
            </a:pPr>
            <a:r>
              <a:t>- The maximum value for **MEDREIMB_IP** of 92100 and **LINE_NCH_PMT_AMT_1** of 550 may indicate outliers that could skew overall averages. These should be investigated further to determine if they represent extreme cases or data entry errors.</a:t>
            </a:r>
          </a:p>
          <a:p>
            <a:pPr>
              <a:defRPr sz="1600"/>
            </a:pPr>
            <a:r>
              <a:t>- **Zero Values in Coverage**:</a:t>
            </a:r>
          </a:p>
          <a:p>
            <a:pPr>
              <a:defRPr sz="1600"/>
            </a:pPr>
            <a:r>
              <a:t>- Several beneficiaries have zero months of coverage reported, which is concerning. This could indicate gaps in insurance or data recording issues and should be addressed immediately.</a:t>
            </a:r>
          </a:p>
          <a:p>
            <a:pPr>
              <a:defRPr sz="1600"/>
            </a:pPr>
            <a:r>
              <a:t>- **Age Distribution**:</a:t>
            </a:r>
          </a:p>
          <a:p>
            <a:pPr>
              <a:defRPr sz="1600"/>
            </a:pPr>
            <a:r>
              <a:t>- With a significant number of beneficiaries being older adults, there could be an increased demand for geriatric care services. Monitoring trends in aging and chronic illnesses is crucial for future planning.</a:t>
            </a:r>
          </a:p>
          <a:p>
            <a:pPr>
              <a:defRPr sz="1600"/>
            </a:pPr>
            <a:r>
              <a:t>- **Potential Data Quality Concerns**:</a:t>
            </a:r>
          </a:p>
          <a:p>
            <a:pPr>
              <a:defRPr sz="1600"/>
            </a:pPr>
            <a:r>
              <a:t>- The presence of zero values in key columns (e.g., BENE_DEATH_DT, various medical claim amounts) may suggest data quality issues that require validation.</a:t>
            </a:r>
          </a:p>
          <a:p>
            <a:pPr>
              <a:defRPr sz="1600"/>
            </a:pPr>
            <a:r>
              <a:t>In summary, the dataset indicates significant health concerns among an aging population, with gaps in insurance coverage and variability in healthcare costs. Addressing these areas through targeted interventions and improved data management practices is essential for enhancing patient care and health outcomes.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