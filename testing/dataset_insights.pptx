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Dataset Analysis Insights</a:t>
            </a:r>
          </a:p>
        </p:txBody>
      </p:sp>
      <p:sp>
        <p:nvSpPr>
          <p:cNvPr id="3" name="Subtitle 2"/>
          <p:cNvSpPr>
            <a:spLocks noGrp="1"/>
          </p:cNvSpPr>
          <p:nvPr>
            <p:ph type="subTitle" idx="1"/>
          </p:nvPr>
        </p:nvSpPr>
        <p:spPr/>
        <p:txBody>
          <a:bodyPr/>
          <a:lstStyle/>
          <a:p>
            <a:r>
              <a:t>Generated by OpenAI Data Analysis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457200"/>
            <a:ext cx="8229600" cy="914400"/>
          </a:xfrm>
          <a:prstGeom prst="rect">
            <a:avLst/>
          </a:prstGeom>
          <a:noFill/>
        </p:spPr>
        <p:txBody>
          <a:bodyPr wrap="square">
            <a:spAutoFit/>
          </a:bodyPr>
          <a:lstStyle/>
          <a:p>
            <a:pPr>
              <a:defRPr sz="3200" b="1">
                <a:solidFill>
                  <a:srgbClr val="003366"/>
                </a:solidFill>
              </a:defRPr>
            </a:pPr>
            <a:r>
              <a:t>### 1. Summary Statistics</a:t>
            </a:r>
          </a:p>
        </p:txBody>
      </p:sp>
      <p:sp>
        <p:nvSpPr>
          <p:cNvPr id="4" name="TextBox 3"/>
          <p:cNvSpPr txBox="1"/>
          <p:nvPr/>
        </p:nvSpPr>
        <p:spPr>
          <a:xfrm>
            <a:off x="457200" y="1645920"/>
            <a:ext cx="8229600" cy="4754880"/>
          </a:xfrm>
          <a:prstGeom prst="rect">
            <a:avLst/>
          </a:prstGeom>
          <a:noFill/>
        </p:spPr>
        <p:txBody>
          <a:bodyPr wrap="square">
            <a:spAutoFit/>
          </a:bodyPr>
          <a:lstStyle/>
          <a:p/>
          <a:p>
            <a:pPr>
              <a:spcBef>
                <a:spcPts val="600"/>
              </a:spcBef>
              <a:spcAft>
                <a:spcPts val="600"/>
              </a:spcAft>
              <a:defRPr sz="1800"/>
            </a:pPr>
            <a:r>
              <a:t>The provided dataset contains 1,000 records with various attributes related to beneficiaries, coverage, and claims. Here are key summary statistics based on the columns:</a:t>
            </a:r>
          </a:p>
          <a:p>
            <a:pPr>
              <a:spcBef>
                <a:spcPts val="600"/>
              </a:spcBef>
              <a:spcAft>
                <a:spcPts val="600"/>
              </a:spcAft>
              <a:defRPr sz="1800"/>
            </a:pPr>
            <a:r>
              <a:t>- **Beneficiary Age**: The average birth date appears to be around 1933, with some beneficiaries born as early as 1922 and as late as 1961. The mean age of the beneficiaries is approximately 90 years.</a:t>
            </a:r>
          </a:p>
          <a:p>
            <a:pPr>
              <a:spcBef>
                <a:spcPts val="600"/>
              </a:spcBef>
              <a:spcAft>
                <a:spcPts val="600"/>
              </a:spcAft>
              <a:defRPr sz="1800"/>
            </a:pPr>
            <a:r>
              <a:t>- **Death Dates**: The majority of entries have no recorded death date (0.0), indicating that those beneficiaries are alive or the data is incomplete.</a:t>
            </a:r>
          </a:p>
          <a:p>
            <a:pPr>
              <a:spcBef>
                <a:spcPts val="600"/>
              </a:spcBef>
              <a:spcAft>
                <a:spcPts val="600"/>
              </a:spcAft>
              <a:defRPr sz="1800"/>
            </a:pPr>
            <a:r>
              <a:t>- **Gender Distribution**: The `BENE_SEX_IDENT_CD` has a mean value of 1.57, suggesting a near-equal distribution between male (1) and female (2) beneficiaries.</a:t>
            </a:r>
          </a:p>
          <a:p>
            <a:pPr>
              <a:spcBef>
                <a:spcPts val="600"/>
              </a:spcBef>
              <a:spcAft>
                <a:spcPts val="600"/>
              </a:spcAft>
              <a:defRPr sz="1800"/>
            </a:pPr>
            <a:r>
              <a:t>- **Race Distribution**: The `BENE_RACE_CD` indicates diversity, with values ranging from 1 to 5, corresponding to different racial categories.</a:t>
            </a:r>
          </a:p>
          <a:p>
            <a:pPr>
              <a:spcBef>
                <a:spcPts val="600"/>
              </a:spcBef>
              <a:spcAft>
                <a:spcPts val="600"/>
              </a:spcAft>
              <a:defRPr sz="1800"/>
            </a:pPr>
            <a:r>
              <a:t>- **Chronic Conditions**: The dataset includes various health conditions (e.g., Alzheimer's, CHF, COPD, Diabetes) coded as binary indicators (1 = present, 2 = absent). Most beneficiaries have multiple chronic conditions, indicating a high prevalence of comorbidities.</a:t>
            </a:r>
          </a:p>
          <a:p>
            <a:pPr>
              <a:spcBef>
                <a:spcPts val="600"/>
              </a:spcBef>
              <a:spcAft>
                <a:spcPts val="600"/>
              </a:spcAft>
              <a:defRPr sz="1800"/>
            </a:pPr>
            <a:r>
              <a:t>- **Coverage Information**: The average months of coverage for HI, SMI, and HMO are relatively high, suggesting that beneficiaries are often enrolled in multiple plans.</a:t>
            </a:r>
          </a:p>
          <a:p>
            <a:pPr>
              <a:spcBef>
                <a:spcPts val="600"/>
              </a:spcBef>
              <a:spcAft>
                <a:spcPts val="600"/>
              </a:spcAft>
              <a:defRPr sz="1800"/>
            </a:pPr>
            <a:r>
              <a:t>- **Claims Data**: The average payment amounts for inpatient, outpatient, and carrier claims vary widely, suggesting a range of service utilization among beneficiaries.</a:t>
            </a:r>
          </a:p>
          <a:p>
            <a:pPr>
              <a:spcBef>
                <a:spcPts val="600"/>
              </a:spcBef>
              <a:spcAft>
                <a:spcPts val="600"/>
              </a:spcAft>
              <a:defRPr sz="1800"/>
            </a:pPr>
            <a:r>
              <a:t>### 2. Key Trends and Patterns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457200"/>
            <a:ext cx="8229600" cy="914400"/>
          </a:xfrm>
          <a:prstGeom prst="rect">
            <a:avLst/>
          </a:prstGeom>
          <a:noFill/>
        </p:spPr>
        <p:txBody>
          <a:bodyPr wrap="square">
            <a:spAutoFit/>
          </a:bodyPr>
          <a:lstStyle/>
          <a:p>
            <a:pPr>
              <a:defRPr sz="3200" b="1">
                <a:solidFill>
                  <a:srgbClr val="003366"/>
                </a:solidFill>
              </a:defRPr>
            </a:pPr>
            <a:r>
              <a:t>### 2. Key Trends and Patterns</a:t>
            </a:r>
          </a:p>
        </p:txBody>
      </p:sp>
      <p:sp>
        <p:nvSpPr>
          <p:cNvPr id="4" name="TextBox 3"/>
          <p:cNvSpPr txBox="1"/>
          <p:nvPr/>
        </p:nvSpPr>
        <p:spPr>
          <a:xfrm>
            <a:off x="457200" y="1645920"/>
            <a:ext cx="8229600" cy="4754880"/>
          </a:xfrm>
          <a:prstGeom prst="rect">
            <a:avLst/>
          </a:prstGeom>
          <a:noFill/>
        </p:spPr>
        <p:txBody>
          <a:bodyPr wrap="square">
            <a:spAutoFit/>
          </a:bodyPr>
          <a:lstStyle/>
          <a:p/>
          <a:p>
            <a:pPr>
              <a:spcBef>
                <a:spcPts val="600"/>
              </a:spcBef>
              <a:spcAft>
                <a:spcPts val="600"/>
              </a:spcAft>
              <a:defRPr sz="1800"/>
            </a:pPr>
            <a:r>
              <a:t>- **High Prevalence of Chronic Conditions**: A significant number of beneficiaries report multiple chronic conditions. For instance, conditions like diabetes and depression are common.</a:t>
            </a:r>
          </a:p>
          <a:p>
            <a:pPr>
              <a:spcBef>
                <a:spcPts val="600"/>
              </a:spcBef>
              <a:spcAft>
                <a:spcPts val="600"/>
              </a:spcAft>
              <a:defRPr sz="1800"/>
            </a:pPr>
            <a:r>
              <a:t>- **Coverage Types**: Most beneficiaries seem to have extensive health insurance coverage, with a notable number enrolled in both Medicare and HMO plans.</a:t>
            </a:r>
          </a:p>
          <a:p>
            <a:pPr>
              <a:spcBef>
                <a:spcPts val="600"/>
              </a:spcBef>
              <a:spcAft>
                <a:spcPts val="600"/>
              </a:spcAft>
              <a:defRPr sz="1800"/>
            </a:pPr>
            <a:r>
              <a:t>- **Claims Variability**: There's considerable variability in claims amounts, indicating differences in healthcare utilization, which could be influenced by health status or geographic location (as indicated by state and county codes).</a:t>
            </a:r>
          </a:p>
          <a:p>
            <a:pPr>
              <a:spcBef>
                <a:spcPts val="600"/>
              </a:spcBef>
              <a:spcAft>
                <a:spcPts val="600"/>
              </a:spcAft>
              <a:defRPr sz="1800"/>
            </a:pPr>
            <a:r>
              <a:t>- **Geographic Distribution**: The state and county codes might reveal trends in healthcare access and service utilization that could be further explored.</a:t>
            </a:r>
          </a:p>
          <a:p>
            <a:pPr>
              <a:spcBef>
                <a:spcPts val="600"/>
              </a:spcBef>
              <a:spcAft>
                <a:spcPts val="600"/>
              </a:spcAft>
              <a:defRPr sz="1800"/>
            </a:pPr>
            <a:r>
              <a:t>### 3. Recommendations for Improvement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457200"/>
            <a:ext cx="8229600" cy="914400"/>
          </a:xfrm>
          <a:prstGeom prst="rect">
            <a:avLst/>
          </a:prstGeom>
          <a:noFill/>
        </p:spPr>
        <p:txBody>
          <a:bodyPr wrap="square">
            <a:spAutoFit/>
          </a:bodyPr>
          <a:lstStyle/>
          <a:p>
            <a:pPr>
              <a:defRPr sz="3200" b="1">
                <a:solidFill>
                  <a:srgbClr val="003366"/>
                </a:solidFill>
              </a:defRPr>
            </a:pPr>
            <a:r>
              <a:t>### 3. Recommendations for Improvement</a:t>
            </a:r>
          </a:p>
        </p:txBody>
      </p:sp>
      <p:sp>
        <p:nvSpPr>
          <p:cNvPr id="4" name="TextBox 3"/>
          <p:cNvSpPr txBox="1"/>
          <p:nvPr/>
        </p:nvSpPr>
        <p:spPr>
          <a:xfrm>
            <a:off x="457200" y="1645920"/>
            <a:ext cx="8229600" cy="4754880"/>
          </a:xfrm>
          <a:prstGeom prst="rect">
            <a:avLst/>
          </a:prstGeom>
          <a:noFill/>
        </p:spPr>
        <p:txBody>
          <a:bodyPr wrap="square">
            <a:spAutoFit/>
          </a:bodyPr>
          <a:lstStyle/>
          <a:p/>
          <a:p>
            <a:pPr>
              <a:spcBef>
                <a:spcPts val="600"/>
              </a:spcBef>
              <a:spcAft>
                <a:spcPts val="600"/>
              </a:spcAft>
              <a:defRPr sz="1800"/>
            </a:pPr>
            <a:r>
              <a:t>- **Data Completeness**: Ensure that the dataset is complete, especially for critical fields such as `BENE_DEATH_DT`, which currently has many zeros. This can help in understanding mortality trends and healthcare costs more accurately.</a:t>
            </a:r>
          </a:p>
          <a:p>
            <a:pPr>
              <a:spcBef>
                <a:spcPts val="600"/>
              </a:spcBef>
              <a:spcAft>
                <a:spcPts val="600"/>
              </a:spcAft>
              <a:defRPr sz="1800"/>
            </a:pPr>
            <a:r>
              <a:t>- **Chronic Condition Management**: Implement targeted health programs aimed at managing chronic conditions, given the high prevalence observed. This could include educational programs or preventative care initiatives.</a:t>
            </a:r>
          </a:p>
          <a:p>
            <a:pPr>
              <a:spcBef>
                <a:spcPts val="600"/>
              </a:spcBef>
              <a:spcAft>
                <a:spcPts val="600"/>
              </a:spcAft>
              <a:defRPr sz="1800"/>
            </a:pPr>
            <a:r>
              <a:t>- **Geographic Analysis**: Conduct a deeper analysis based on state and county codes to identify regions with high healthcare utilization versus those with lower utilization. This can help in resource allocation and developing region-specific health interventions.</a:t>
            </a:r>
          </a:p>
          <a:p>
            <a:pPr>
              <a:spcBef>
                <a:spcPts val="600"/>
              </a:spcBef>
              <a:spcAft>
                <a:spcPts val="600"/>
              </a:spcAft>
              <a:defRPr sz="1800"/>
            </a:pPr>
            <a:r>
              <a:t>- **Cost Monitoring**: Regularly monitor claims data to identify trends in healthcare costs and utilization, aiming to manage expenditures while maintaining quality care.</a:t>
            </a:r>
          </a:p>
          <a:p>
            <a:pPr>
              <a:spcBef>
                <a:spcPts val="600"/>
              </a:spcBef>
              <a:spcAft>
                <a:spcPts val="600"/>
              </a:spcAft>
              <a:defRPr sz="1800"/>
            </a:pPr>
            <a:r>
              <a:t>### 4. Anomalies or Areas of Concern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457200"/>
            <a:ext cx="8229600" cy="914400"/>
          </a:xfrm>
          <a:prstGeom prst="rect">
            <a:avLst/>
          </a:prstGeom>
          <a:noFill/>
        </p:spPr>
        <p:txBody>
          <a:bodyPr wrap="square">
            <a:spAutoFit/>
          </a:bodyPr>
          <a:lstStyle/>
          <a:p>
            <a:pPr>
              <a:defRPr sz="3200" b="1">
                <a:solidFill>
                  <a:srgbClr val="003366"/>
                </a:solidFill>
              </a:defRPr>
            </a:pPr>
            <a:r>
              <a:t>### 4. Anomalies or Areas of Concern</a:t>
            </a:r>
          </a:p>
        </p:txBody>
      </p:sp>
      <p:sp>
        <p:nvSpPr>
          <p:cNvPr id="4" name="TextBox 3"/>
          <p:cNvSpPr txBox="1"/>
          <p:nvPr/>
        </p:nvSpPr>
        <p:spPr>
          <a:xfrm>
            <a:off x="457200" y="1645920"/>
            <a:ext cx="8229600" cy="4754880"/>
          </a:xfrm>
          <a:prstGeom prst="rect">
            <a:avLst/>
          </a:prstGeom>
          <a:noFill/>
        </p:spPr>
        <p:txBody>
          <a:bodyPr wrap="square">
            <a:spAutoFit/>
          </a:bodyPr>
          <a:lstStyle/>
          <a:p/>
          <a:p>
            <a:pPr>
              <a:spcBef>
                <a:spcPts val="600"/>
              </a:spcBef>
              <a:spcAft>
                <a:spcPts val="600"/>
              </a:spcAft>
              <a:defRPr sz="1800"/>
            </a:pPr>
            <a:r>
              <a:t>- **Death Dates**: The presence of many zeros in the `BENE_DEATH_DT` column raises concerns about data integrity. It is essential to verify whether beneficiaries are indeed alive or if the data is incomplete.</a:t>
            </a:r>
          </a:p>
          <a:p>
            <a:pPr>
              <a:spcBef>
                <a:spcPts val="600"/>
              </a:spcBef>
              <a:spcAft>
                <a:spcPts val="600"/>
              </a:spcAft>
              <a:defRPr sz="1800"/>
            </a:pPr>
            <a:r>
              <a:t>- **Claims Amounts**: Some claims amounts are extremely high (e.g., up to 40000 for outpatient claims), which may warrant further investigation to ensure that these reflect accurate billing and service utilization patterns.</a:t>
            </a:r>
          </a:p>
          <a:p>
            <a:pPr>
              <a:spcBef>
                <a:spcPts val="600"/>
              </a:spcBef>
              <a:spcAft>
                <a:spcPts val="600"/>
              </a:spcAft>
              <a:defRPr sz="1800"/>
            </a:pPr>
            <a:r>
              <a:t>- **Chronic Condition Indicators**: The binary indicators for chronic conditions show a high prevalence (mean values around 2.0). This could indicate that the coding is misrepresentative, or that there is a true high burden of disease among beneficiaries, which needs to be addressed.</a:t>
            </a:r>
          </a:p>
          <a:p>
            <a:pPr>
              <a:spcBef>
                <a:spcPts val="600"/>
              </a:spcBef>
              <a:spcAft>
                <a:spcPts val="600"/>
              </a:spcAft>
              <a:defRPr sz="1800"/>
            </a:pPr>
            <a:r>
              <a:t>- **Coverage Gaps**: Despite high coverage months, some beneficiaries may still face challenges accessing necessary healthcare services. Exploring access versus utilization can uncover potential barriers.</a:t>
            </a:r>
          </a:p>
          <a:p>
            <a:pPr>
              <a:spcBef>
                <a:spcPts val="600"/>
              </a:spcBef>
              <a:spcAft>
                <a:spcPts val="600"/>
              </a:spcAft>
              <a:defRPr sz="1800"/>
            </a:pPr>
            <a:r>
              <a:t>### Conclusion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457200"/>
            <a:ext cx="8229600" cy="914400"/>
          </a:xfrm>
          <a:prstGeom prst="rect">
            <a:avLst/>
          </a:prstGeom>
          <a:noFill/>
        </p:spPr>
        <p:txBody>
          <a:bodyPr wrap="none">
            <a:spAutoFit/>
          </a:bodyPr>
          <a:lstStyle/>
          <a:p>
            <a:pPr>
              <a:defRPr sz="3200" b="1">
                <a:solidFill>
                  <a:srgbClr val="003366"/>
                </a:solidFill>
              </a:defRPr>
            </a:pPr>
            <a:r>
              <a:t>### Conclusion</a:t>
            </a:r>
          </a:p>
        </p:txBody>
      </p:sp>
      <p:sp>
        <p:nvSpPr>
          <p:cNvPr id="4" name="TextBox 3"/>
          <p:cNvSpPr txBox="1"/>
          <p:nvPr/>
        </p:nvSpPr>
        <p:spPr>
          <a:xfrm>
            <a:off x="457200" y="1645920"/>
            <a:ext cx="8229600" cy="4754880"/>
          </a:xfrm>
          <a:prstGeom prst="rect">
            <a:avLst/>
          </a:prstGeom>
          <a:noFill/>
        </p:spPr>
        <p:txBody>
          <a:bodyPr wrap="square">
            <a:spAutoFit/>
          </a:bodyPr>
          <a:lstStyle/>
          <a:p/>
          <a:p>
            <a:pPr>
              <a:spcBef>
                <a:spcPts val="600"/>
              </a:spcBef>
              <a:spcAft>
                <a:spcPts val="600"/>
              </a:spcAft>
              <a:defRPr sz="1800"/>
            </a:pPr>
            <a:r>
              <a:t>The dataset indicates a complex interplay of demographics, health status, and healthcare access among beneficiaries. Addressing data integrity issues, understanding chronic condition management, and focusing on geographic disparities will enhance healthcare delivery and outcomes for this population.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