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Dataset Analysis Insights</a:t>
            </a:r>
          </a:p>
        </p:txBody>
      </p:sp>
      <p:sp>
        <p:nvSpPr>
          <p:cNvPr id="3" name="Subtitle 2"/>
          <p:cNvSpPr>
            <a:spLocks noGrp="1"/>
          </p:cNvSpPr>
          <p:nvPr>
            <p:ph type="subTitle" idx="1"/>
          </p:nvPr>
        </p:nvSpPr>
        <p:spPr/>
        <p:txBody>
          <a:bodyPr/>
          <a:lstStyle/>
          <a:p>
            <a:r>
              <a:t>Generated by OpenAI Data Analysis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457200"/>
            <a:ext cx="8229600" cy="914400"/>
          </a:xfrm>
          <a:prstGeom prst="rect">
            <a:avLst/>
          </a:prstGeom>
          <a:noFill/>
        </p:spPr>
        <p:txBody>
          <a:bodyPr wrap="square">
            <a:spAutoFit/>
          </a:bodyPr>
          <a:lstStyle/>
          <a:p>
            <a:pPr>
              <a:defRPr sz="3200" b="1">
                <a:solidFill>
                  <a:srgbClr val="003366"/>
                </a:solidFill>
              </a:defRPr>
            </a:pPr>
            <a:r>
              <a:t>### 1. Summary Statistics</a:t>
            </a:r>
          </a:p>
        </p:txBody>
      </p:sp>
      <p:sp>
        <p:nvSpPr>
          <p:cNvPr id="4" name="TextBox 3"/>
          <p:cNvSpPr txBox="1"/>
          <p:nvPr/>
        </p:nvSpPr>
        <p:spPr>
          <a:xfrm>
            <a:off x="457200" y="1645920"/>
            <a:ext cx="8229600" cy="4754880"/>
          </a:xfrm>
          <a:prstGeom prst="rect">
            <a:avLst/>
          </a:prstGeom>
          <a:noFill/>
        </p:spPr>
        <p:txBody>
          <a:bodyPr wrap="square">
            <a:spAutoFit/>
          </a:bodyPr>
          <a:lstStyle/>
          <a:p/>
          <a:p>
            <a:pPr>
              <a:spcBef>
                <a:spcPts val="600"/>
              </a:spcBef>
              <a:spcAft>
                <a:spcPts val="600"/>
              </a:spcAft>
              <a:defRPr sz="1800"/>
            </a:pPr>
            <a:r>
              <a:t>The dataset contains 1,000 entries with various demographic and claims-related attributes. Here are some key summary statistics:</a:t>
            </a:r>
          </a:p>
          <a:p>
            <a:pPr>
              <a:spcBef>
                <a:spcPts val="600"/>
              </a:spcBef>
              <a:spcAft>
                <a:spcPts val="600"/>
              </a:spcAft>
              <a:defRPr sz="1800"/>
            </a:pPr>
            <a:r>
              <a:t>- **Demographics:**</a:t>
            </a:r>
          </a:p>
          <a:p>
            <a:pPr>
              <a:spcBef>
                <a:spcPts val="600"/>
              </a:spcBef>
              <a:spcAft>
                <a:spcPts val="600"/>
              </a:spcAft>
              <a:defRPr sz="1800"/>
            </a:pPr>
            <a:r>
              <a:t>- **Birth Date (BENE_BIRTH_DT):** The mean birth year appears to be around 1935, indicating that the majority of the population is elderly.</a:t>
            </a:r>
          </a:p>
          <a:p>
            <a:pPr>
              <a:spcBef>
                <a:spcPts val="600"/>
              </a:spcBef>
              <a:spcAft>
                <a:spcPts val="600"/>
              </a:spcAft>
              <a:defRPr sz="1800"/>
            </a:pPr>
            <a:r>
              <a:t>- **Death Date (BENE_DEATH_DT):** The presence of many zero values indicates that these individuals are still alive or that death dates might not be recorded for all.</a:t>
            </a:r>
          </a:p>
          <a:p>
            <a:pPr>
              <a:spcBef>
                <a:spcPts val="600"/>
              </a:spcBef>
              <a:spcAft>
                <a:spcPts val="600"/>
              </a:spcAft>
              <a:defRPr sz="1800"/>
            </a:pPr>
            <a:r>
              <a:t>- **Sex Identification (BENE_SEX_IDENT_CD):** The mean value is approximately 1.57, indicating a slightly higher number of females (2.0) than males (1.0).</a:t>
            </a:r>
          </a:p>
          <a:p>
            <a:pPr>
              <a:spcBef>
                <a:spcPts val="600"/>
              </a:spcBef>
              <a:spcAft>
                <a:spcPts val="600"/>
              </a:spcAft>
              <a:defRPr sz="1800"/>
            </a:pPr>
            <a:r>
              <a:t>- **Race (BENE_RACE_CD):** Most individuals appear to belong to a primary race category (1.0).</a:t>
            </a:r>
          </a:p>
          <a:p>
            <a:pPr>
              <a:spcBef>
                <a:spcPts val="600"/>
              </a:spcBef>
              <a:spcAft>
                <a:spcPts val="600"/>
              </a:spcAft>
              <a:defRPr sz="1800"/>
            </a:pPr>
            <a:r>
              <a:t>- **Insurance Coverage:**</a:t>
            </a:r>
          </a:p>
          <a:p>
            <a:pPr>
              <a:spcBef>
                <a:spcPts val="600"/>
              </a:spcBef>
              <a:spcAft>
                <a:spcPts val="600"/>
              </a:spcAft>
              <a:defRPr sz="1800"/>
            </a:pPr>
            <a:r>
              <a:t>- **Total Medicare Coverage Months:** The average is approximately 11.75 months for HI, SMI, and HMO, indicating that most beneficiaries have continuous coverage.</a:t>
            </a:r>
          </a:p>
          <a:p>
            <a:pPr>
              <a:spcBef>
                <a:spcPts val="600"/>
              </a:spcBef>
              <a:spcAft>
                <a:spcPts val="600"/>
              </a:spcAft>
              <a:defRPr sz="1800"/>
            </a:pPr>
            <a:r>
              <a:t>- **Chronic Conditions:**</a:t>
            </a:r>
          </a:p>
          <a:p>
            <a:pPr>
              <a:spcBef>
                <a:spcPts val="600"/>
              </a:spcBef>
              <a:spcAft>
                <a:spcPts val="600"/>
              </a:spcAft>
              <a:defRPr sz="1800"/>
            </a:pPr>
            <a:r>
              <a:t>- There are several flags for chronic conditions (e.g., Alzheimer’s, CHF, CKD, etc.). The average counts for these conditions are mostly around 1.5-2.0, suggesting a significant prevalence of chronic conditions among this elderly population.</a:t>
            </a:r>
          </a:p>
          <a:p>
            <a:pPr>
              <a:spcBef>
                <a:spcPts val="600"/>
              </a:spcBef>
              <a:spcAft>
                <a:spcPts val="600"/>
              </a:spcAft>
              <a:defRPr sz="1800"/>
            </a:pPr>
            <a:r>
              <a:t>- **Financial Metrics:**</a:t>
            </a:r>
          </a:p>
          <a:p>
            <a:pPr>
              <a:spcBef>
                <a:spcPts val="600"/>
              </a:spcBef>
              <a:spcAft>
                <a:spcPts val="600"/>
              </a:spcAft>
              <a:defRPr sz="1800"/>
            </a:pPr>
            <a:r>
              <a:t>- **Total Payments (MEDREIMB_IP, OP, CAR):** The average payment amounts are significant, with inpatient payments averaging around $2794.99.</a:t>
            </a:r>
          </a:p>
          <a:p>
            <a:pPr>
              <a:spcBef>
                <a:spcPts val="600"/>
              </a:spcBef>
              <a:spcAft>
                <a:spcPts val="600"/>
              </a:spcAft>
              <a:defRPr sz="1800"/>
            </a:pPr>
            <a:r>
              <a:t>- **Claim IDs and Dates:** Claim IDs and dates are recorded, which can be useful for tracking claims over time.</a:t>
            </a:r>
          </a:p>
          <a:p>
            <a:pPr>
              <a:spcBef>
                <a:spcPts val="600"/>
              </a:spcBef>
              <a:spcAft>
                <a:spcPts val="600"/>
              </a:spcAft>
              <a:defRPr sz="1800"/>
            </a:pPr>
            <a:r>
              <a:t>### 2. Key Trends and Patterns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457200"/>
            <a:ext cx="8229600" cy="914400"/>
          </a:xfrm>
          <a:prstGeom prst="rect">
            <a:avLst/>
          </a:prstGeom>
          <a:noFill/>
        </p:spPr>
        <p:txBody>
          <a:bodyPr wrap="square">
            <a:spAutoFit/>
          </a:bodyPr>
          <a:lstStyle/>
          <a:p>
            <a:pPr>
              <a:defRPr sz="3200" b="1">
                <a:solidFill>
                  <a:srgbClr val="003366"/>
                </a:solidFill>
              </a:defRPr>
            </a:pPr>
            <a:r>
              <a:t>### 2. Key Trends and Patterns</a:t>
            </a:r>
          </a:p>
        </p:txBody>
      </p:sp>
      <p:sp>
        <p:nvSpPr>
          <p:cNvPr id="4" name="TextBox 3"/>
          <p:cNvSpPr txBox="1"/>
          <p:nvPr/>
        </p:nvSpPr>
        <p:spPr>
          <a:xfrm>
            <a:off x="457200" y="1645920"/>
            <a:ext cx="8229600" cy="4754880"/>
          </a:xfrm>
          <a:prstGeom prst="rect">
            <a:avLst/>
          </a:prstGeom>
          <a:noFill/>
        </p:spPr>
        <p:txBody>
          <a:bodyPr wrap="square">
            <a:spAutoFit/>
          </a:bodyPr>
          <a:lstStyle/>
          <a:p/>
          <a:p>
            <a:pPr>
              <a:spcBef>
                <a:spcPts val="600"/>
              </a:spcBef>
              <a:spcAft>
                <a:spcPts val="600"/>
              </a:spcAft>
              <a:defRPr sz="1800"/>
            </a:pPr>
            <a:r>
              <a:t>- **Age Distribution:** The dataset primarily represents an older demographic, which is expected in Medicare data. This suggests a higher demand for healthcare services.</a:t>
            </a:r>
          </a:p>
          <a:p>
            <a:pPr>
              <a:spcBef>
                <a:spcPts val="600"/>
              </a:spcBef>
              <a:spcAft>
                <a:spcPts val="600"/>
              </a:spcAft>
              <a:defRPr sz="1800"/>
            </a:pPr>
            <a:r>
              <a:t>- **High Prevalence of Chronic Conditions:** The presence of chronic conditions such as diabetes, depression, and cardiovascular diseases indicates a need for targeted healthcare programs to manage these conditions effectively.</a:t>
            </a:r>
          </a:p>
          <a:p>
            <a:pPr>
              <a:spcBef>
                <a:spcPts val="600"/>
              </a:spcBef>
              <a:spcAft>
                <a:spcPts val="600"/>
              </a:spcAft>
              <a:defRPr sz="1800"/>
            </a:pPr>
            <a:r>
              <a:t>- **Insurance Coverage Stability:** Most beneficiaries have a consistent history of coverage, which is crucial for maintaining continuous care.</a:t>
            </a:r>
          </a:p>
          <a:p>
            <a:pPr>
              <a:spcBef>
                <a:spcPts val="600"/>
              </a:spcBef>
              <a:spcAft>
                <a:spcPts val="600"/>
              </a:spcAft>
              <a:defRPr sz="1800"/>
            </a:pPr>
            <a:r>
              <a:t>- **Potential for Care Coordination:** The presence of multiple chronic conditions among individuals suggests that coordinated care models could be beneficial.</a:t>
            </a:r>
          </a:p>
          <a:p>
            <a:pPr>
              <a:spcBef>
                <a:spcPts val="600"/>
              </a:spcBef>
              <a:spcAft>
                <a:spcPts val="600"/>
              </a:spcAft>
              <a:defRPr sz="1800"/>
            </a:pPr>
            <a:r>
              <a:t>### 3. Recommendations for Improvement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457200"/>
            <a:ext cx="8229600" cy="914400"/>
          </a:xfrm>
          <a:prstGeom prst="rect">
            <a:avLst/>
          </a:prstGeom>
          <a:noFill/>
        </p:spPr>
        <p:txBody>
          <a:bodyPr wrap="square">
            <a:spAutoFit/>
          </a:bodyPr>
          <a:lstStyle/>
          <a:p>
            <a:pPr>
              <a:defRPr sz="3200" b="1">
                <a:solidFill>
                  <a:srgbClr val="003366"/>
                </a:solidFill>
              </a:defRPr>
            </a:pPr>
            <a:r>
              <a:t>### 3. Recommendations for Improvement</a:t>
            </a:r>
          </a:p>
        </p:txBody>
      </p:sp>
      <p:sp>
        <p:nvSpPr>
          <p:cNvPr id="4" name="TextBox 3"/>
          <p:cNvSpPr txBox="1"/>
          <p:nvPr/>
        </p:nvSpPr>
        <p:spPr>
          <a:xfrm>
            <a:off x="457200" y="1645920"/>
            <a:ext cx="8229600" cy="4754880"/>
          </a:xfrm>
          <a:prstGeom prst="rect">
            <a:avLst/>
          </a:prstGeom>
          <a:noFill/>
        </p:spPr>
        <p:txBody>
          <a:bodyPr wrap="square">
            <a:spAutoFit/>
          </a:bodyPr>
          <a:lstStyle/>
          <a:p/>
          <a:p>
            <a:pPr>
              <a:spcBef>
                <a:spcPts val="600"/>
              </a:spcBef>
              <a:spcAft>
                <a:spcPts val="600"/>
              </a:spcAft>
              <a:defRPr sz="1800"/>
            </a:pPr>
            <a:r>
              <a:t>- **Targeted Health Programs:** Implement health programs specifically designed for managing chronic conditions, such as diabetes management and mental health services for depression.</a:t>
            </a:r>
          </a:p>
          <a:p>
            <a:pPr>
              <a:spcBef>
                <a:spcPts val="600"/>
              </a:spcBef>
              <a:spcAft>
                <a:spcPts val="600"/>
              </a:spcAft>
              <a:defRPr sz="1800"/>
            </a:pPr>
            <a:r>
              <a:t>- **Data Completeness:** Improve the collection of demographic data, particularly around death dates and racial/ethnic categories, to enhance understanding and support for these populations.</a:t>
            </a:r>
          </a:p>
          <a:p>
            <a:pPr>
              <a:spcBef>
                <a:spcPts val="600"/>
              </a:spcBef>
              <a:spcAft>
                <a:spcPts val="600"/>
              </a:spcAft>
              <a:defRPr sz="1800"/>
            </a:pPr>
            <a:r>
              <a:t>- **Care Coordination Models:** Develop care coordination initiatives that focus on individuals with multiple chronic conditions to ensure they receive comprehensive care across different healthcare settings.</a:t>
            </a:r>
          </a:p>
          <a:p>
            <a:pPr>
              <a:spcBef>
                <a:spcPts val="600"/>
              </a:spcBef>
              <a:spcAft>
                <a:spcPts val="600"/>
              </a:spcAft>
              <a:defRPr sz="1800"/>
            </a:pPr>
            <a:r>
              <a:t>- **Financial Assistance Programs:** Evaluate the financial impact on beneficiaries with high medical expenses and consider programs that assist with deductibles and coinsurance.</a:t>
            </a:r>
          </a:p>
          <a:p>
            <a:pPr>
              <a:spcBef>
                <a:spcPts val="600"/>
              </a:spcBef>
              <a:spcAft>
                <a:spcPts val="600"/>
              </a:spcAft>
              <a:defRPr sz="1800"/>
            </a:pPr>
            <a:r>
              <a:t>### 4. Anomalies or Areas of Concern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457200"/>
            <a:ext cx="8229600" cy="914400"/>
          </a:xfrm>
          <a:prstGeom prst="rect">
            <a:avLst/>
          </a:prstGeom>
          <a:noFill/>
        </p:spPr>
        <p:txBody>
          <a:bodyPr wrap="square">
            <a:spAutoFit/>
          </a:bodyPr>
          <a:lstStyle/>
          <a:p>
            <a:pPr>
              <a:defRPr sz="3200" b="1">
                <a:solidFill>
                  <a:srgbClr val="003366"/>
                </a:solidFill>
              </a:defRPr>
            </a:pPr>
            <a:r>
              <a:t>### 4. Anomalies or Areas of Concern</a:t>
            </a:r>
          </a:p>
        </p:txBody>
      </p:sp>
      <p:sp>
        <p:nvSpPr>
          <p:cNvPr id="4" name="TextBox 3"/>
          <p:cNvSpPr txBox="1"/>
          <p:nvPr/>
        </p:nvSpPr>
        <p:spPr>
          <a:xfrm>
            <a:off x="457200" y="1645920"/>
            <a:ext cx="8229600" cy="4754880"/>
          </a:xfrm>
          <a:prstGeom prst="rect">
            <a:avLst/>
          </a:prstGeom>
          <a:noFill/>
        </p:spPr>
        <p:txBody>
          <a:bodyPr wrap="square">
            <a:spAutoFit/>
          </a:bodyPr>
          <a:lstStyle/>
          <a:p/>
          <a:p>
            <a:pPr>
              <a:spcBef>
                <a:spcPts val="600"/>
              </a:spcBef>
              <a:spcAft>
                <a:spcPts val="600"/>
              </a:spcAft>
              <a:defRPr sz="1800"/>
            </a:pPr>
            <a:r>
              <a:t>- **Death Date Reporting:** The high number of zero values in the death date field indicates a potential issue with data completeness. This could affect population health assessments and resource allocation.</a:t>
            </a:r>
          </a:p>
          <a:p>
            <a:pPr>
              <a:spcBef>
                <a:spcPts val="600"/>
              </a:spcBef>
              <a:spcAft>
                <a:spcPts val="600"/>
              </a:spcAft>
              <a:defRPr sz="1800"/>
            </a:pPr>
            <a:r>
              <a:t>- **Negative Values for Payments:** There are negative payment amounts present in the financial metrics, which may indicate billing errors or adjustments that need to be addressed.</a:t>
            </a:r>
          </a:p>
          <a:p>
            <a:pPr>
              <a:spcBef>
                <a:spcPts val="600"/>
              </a:spcBef>
              <a:spcAft>
                <a:spcPts val="600"/>
              </a:spcAft>
              <a:defRPr sz="1800"/>
            </a:pPr>
            <a:r>
              <a:t>- **Potential Underreporting of Chronic Conditions:** The average counts for certain chronic conditions seem relatively low compared to national averages. This could suggest underreporting or misclassification in the dataset.</a:t>
            </a:r>
          </a:p>
          <a:p>
            <a:pPr>
              <a:spcBef>
                <a:spcPts val="600"/>
              </a:spcBef>
              <a:spcAft>
                <a:spcPts val="600"/>
              </a:spcAft>
              <a:defRPr sz="1800"/>
            </a:pPr>
            <a:r>
              <a:t>- **Data Type Consistency:** Several columns, including demographic identifiers, have a mix of numeric and string types (e.g., ICD codes). Consider standardizing these fields to improve data integrity and usability in analysis.</a:t>
            </a:r>
          </a:p>
          <a:p>
            <a:pPr>
              <a:spcBef>
                <a:spcPts val="600"/>
              </a:spcBef>
              <a:spcAft>
                <a:spcPts val="600"/>
              </a:spcAft>
              <a:defRPr sz="1800"/>
            </a:pPr>
            <a:r>
              <a:t>### Conclusion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457200"/>
            <a:ext cx="8229600" cy="914400"/>
          </a:xfrm>
          <a:prstGeom prst="rect">
            <a:avLst/>
          </a:prstGeom>
          <a:noFill/>
        </p:spPr>
        <p:txBody>
          <a:bodyPr wrap="none">
            <a:spAutoFit/>
          </a:bodyPr>
          <a:lstStyle/>
          <a:p>
            <a:pPr>
              <a:defRPr sz="3200" b="1">
                <a:solidFill>
                  <a:srgbClr val="003366"/>
                </a:solidFill>
              </a:defRPr>
            </a:pPr>
            <a:r>
              <a:t>### Conclusion</a:t>
            </a:r>
          </a:p>
        </p:txBody>
      </p:sp>
      <p:sp>
        <p:nvSpPr>
          <p:cNvPr id="4" name="TextBox 3"/>
          <p:cNvSpPr txBox="1"/>
          <p:nvPr/>
        </p:nvSpPr>
        <p:spPr>
          <a:xfrm>
            <a:off x="457200" y="1645920"/>
            <a:ext cx="8229600" cy="4754880"/>
          </a:xfrm>
          <a:prstGeom prst="rect">
            <a:avLst/>
          </a:prstGeom>
          <a:noFill/>
        </p:spPr>
        <p:txBody>
          <a:bodyPr wrap="square">
            <a:spAutoFit/>
          </a:bodyPr>
          <a:lstStyle/>
          <a:p/>
          <a:p>
            <a:pPr>
              <a:spcBef>
                <a:spcPts val="600"/>
              </a:spcBef>
              <a:spcAft>
                <a:spcPts val="600"/>
              </a:spcAft>
              <a:defRPr sz="1800"/>
            </a:pPr>
            <a:r>
              <a:t>The dataset presents valuable insights into the Medicare population, particularly regarding age, chronic conditions, and insurance coverage. Addressing the anomalies and implementing the recommendations can significantly enhance the quality and effectiveness of healthcare delivery for this demographic.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